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2C4FE-939E-1849-0318-40284FDDDD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D18D16-9712-8D73-57AC-088AADF081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A97981-E0FA-EFB0-DB2F-4EE2CFCD8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A206C-2745-43FE-91E7-E9539B0FC791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A92187-1010-146A-8A77-55434E8CA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4C4559-6098-85DA-57E6-0C360E838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5AB3D-CB70-41CD-9742-84222F1A0E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69569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F5C13-7250-9EFD-D7C3-DB5A25272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B56570-EC48-BF14-7E94-E73A53F252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CAB1D4-95C7-983B-EB53-CE9B945D2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A206C-2745-43FE-91E7-E9539B0FC791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0F95BE-26D4-2952-89B9-B240F744A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CE9D5-C14B-973F-A64A-DE27237A1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5AB3D-CB70-41CD-9742-84222F1A0E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399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A521B-507F-711D-2287-13EDB6B97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CD7D8-DC51-99C3-2EE3-E0A4FEE650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A5DB7B-F151-D4C4-2FDC-734F2DEE0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A206C-2745-43FE-91E7-E9539B0FC791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740B35-E506-DAAB-5E1E-153E40AB7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D09607-68B3-A9C0-DB4E-6CFB4E0FF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5AB3D-CB70-41CD-9742-84222F1A0E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51190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EE2C2-9722-745B-F8E9-FEF29A097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DE31DB-D901-EB65-9A4A-F0FC65AF0B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FC1B-8A40-2C20-1CE1-4012B8D0F7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1C36C0-EA95-75DC-18E7-5CE4349F7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A206C-2745-43FE-91E7-E9539B0FC791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4F7AC0-84C1-0F40-AE8A-F3920CF5C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FD75B4-8ED0-CA39-1ECA-8F3D4F60B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5AB3D-CB70-41CD-9742-84222F1A0E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24869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C42DE-C456-B1C3-1D81-9B72DF757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DF6624-D458-E816-77F0-A6DABDB722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AF20BD-A0CA-898D-4A74-137B6C64B2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8BF9A9-CBD4-23EB-0D8C-4DF092D23A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5DB19A-68F9-0207-8B1A-AACE6F233D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62A6D7-ECBC-E1DD-1D8D-A0325EF4F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A206C-2745-43FE-91E7-E9539B0FC791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B742DF-D8FB-6A22-DCE7-7552AF588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F1D1B7-BFA2-1568-66CE-0BD7E775B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5AB3D-CB70-41CD-9742-84222F1A0E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0268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105DD-7051-D17A-B8E0-C2184FEBF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871E06-CDD7-8FD8-5D1E-6F89DC02B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A206C-2745-43FE-91E7-E9539B0FC791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452FFB-2B05-694B-2AB9-D7341810F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B6D84E-481B-2367-997F-724DA19DB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5AB3D-CB70-41CD-9742-84222F1A0E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05133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2B407F-1F72-2498-61AC-583BC0450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A206C-2745-43FE-91E7-E9539B0FC791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54513A-C379-1465-B0E7-186390BE1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D67F21-5A76-F090-746B-B1CD6CC0C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5AB3D-CB70-41CD-9742-84222F1A0E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8353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B0F83-EBBF-2601-9133-CB7AA54B1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ABCBCF-25EE-7748-AE9B-00E9386C04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6499E9-7170-D635-432C-AC15CD8BD9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9C6879-0F83-FEBC-DDA3-624344DB2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A206C-2745-43FE-91E7-E9539B0FC791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59A93A-54FF-5439-0D2F-E3A2BE133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A1793D-6A4B-436C-8EE4-F63D77E8F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5AB3D-CB70-41CD-9742-84222F1A0E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62993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51207-AE95-C007-C593-47F8E3528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351BE4-ED06-1BD7-3477-C35E373844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9FF72E-9A23-C590-CEAF-5BA609D24D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64FB8F-6B38-346A-9282-2C2C27282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A206C-2745-43FE-91E7-E9539B0FC791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8C0ABD-890C-0CA0-4416-D0EE1C7CC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F9485D-EAC8-1580-CBB5-96A957A2E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5AB3D-CB70-41CD-9742-84222F1A0E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7881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0C64F-780E-8292-182E-3B707B26A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BDF48F-08DE-1251-F692-46277C33A5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C4E6EB-1282-B890-5D1C-D74357EBA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A206C-2745-43FE-91E7-E9539B0FC791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A7778-C719-1B3B-3806-0CE7BFD3D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0DDF6-BBCA-4B7F-E390-063FC87FC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5AB3D-CB70-41CD-9742-84222F1A0E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7082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849D0F-D04B-E130-E4D5-CE5A3ABA69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B56062-A9C4-857C-65AA-8DCF531EAE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FBDEC4-83D9-DD0E-FF46-E70478DC3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A206C-2745-43FE-91E7-E9539B0FC791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6D3D60-11F3-3C13-0437-5F0520540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D20E99-1E11-0FFB-A6F8-916732AAA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5AB3D-CB70-41CD-9742-84222F1A0E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13302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66000"/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harpenSoften amount="-24000"/>
                    </a14:imgEffect>
                    <a14:imgEffect>
                      <a14:brightnessContrast bright="-23000" contrast="-10000"/>
                    </a14:imgEffect>
                  </a14:imgLayer>
                </a14:imgProps>
              </a:ext>
            </a:extLst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164151-FB83-09D2-2368-6DE1944F6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33E8DD-64C2-BD94-D4C5-E90BB5DF4F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7F4F3F-0257-D146-C008-C7B56F568A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FA206C-2745-43FE-91E7-E9539B0FC791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7F22B-BF1B-4E42-48AF-6B63A9A23D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719F29-0C6F-091F-4120-6F8779B407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05AB3D-CB70-41CD-9742-84222F1A0E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8548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8A9F3-6D4A-EAB7-7500-A0AE4777C8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0200"/>
            <a:ext cx="12192000" cy="2087182"/>
          </a:xfrm>
        </p:spPr>
        <p:txBody>
          <a:bodyPr>
            <a:normAutofit/>
          </a:bodyPr>
          <a:lstStyle/>
          <a:p>
            <a:r>
              <a:rPr lang="en-IN" sz="4800" b="1" dirty="0">
                <a:solidFill>
                  <a:schemeClr val="bg2">
                    <a:lumMod val="10000"/>
                  </a:schemeClr>
                </a:solidFill>
                <a:latin typeface="Bookman Old Style" panose="02050604050505020204" pitchFamily="18" charset="0"/>
              </a:rPr>
              <a:t>Hospital Performance Dashboard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0E5EEE-EE61-56D5-ED2D-9D77FA8D7C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61504" y="4142232"/>
            <a:ext cx="2148840" cy="512064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- Manikrao</a:t>
            </a:r>
            <a:endParaRPr lang="en-IN" sz="2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96768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69F88-686D-9B2D-D2D9-B7FD54007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>
                <a:latin typeface="Bookman Old Style" panose="02050604050505020204" pitchFamily="18" charset="0"/>
              </a:rPr>
              <a:t>KPIs</a:t>
            </a:r>
            <a:r>
              <a:rPr lang="en-IN" sz="4000" b="1" dirty="0">
                <a:latin typeface="Bookman Old Style" panose="02050604050505020204" pitchFamily="18" charset="0"/>
              </a:rPr>
              <a:t> </a:t>
            </a:r>
            <a:r>
              <a:rPr lang="en-IN" sz="4000" dirty="0">
                <a:latin typeface="Bookman Old Style" panose="02050604050505020204" pitchFamily="18" charset="0"/>
              </a:rPr>
              <a:t>Overview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580017-A88B-8FDC-A6C6-217D5FA9D5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6824" y="1776182"/>
            <a:ext cx="2057687" cy="3305636"/>
          </a:xfrm>
          <a:prstGeom prst="rect">
            <a:avLst/>
          </a:prstGeom>
          <a:effectLst>
            <a:outerShdw blurRad="50800" dist="38100" dir="13500000" algn="br" rotWithShape="0">
              <a:prstClr val="black">
                <a:alpha val="40000"/>
              </a:prstClr>
            </a:outerShdw>
            <a:softEdge rad="63500"/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FA278E7-C68B-1ADB-B7E2-52B8BBF69F67}"/>
              </a:ext>
            </a:extLst>
          </p:cNvPr>
          <p:cNvSpPr txBox="1"/>
          <p:nvPr/>
        </p:nvSpPr>
        <p:spPr>
          <a:xfrm>
            <a:off x="1497488" y="2160928"/>
            <a:ext cx="5641848" cy="25361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Total Revenue: 93.80M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Total Patients: 1500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Avg Treatment Cost: 103.74k</a:t>
            </a:r>
          </a:p>
        </p:txBody>
      </p:sp>
    </p:spTree>
    <p:extLst>
      <p:ext uri="{BB962C8B-B14F-4D97-AF65-F5344CB8AC3E}">
        <p14:creationId xmlns:p14="http://schemas.microsoft.com/office/powerpoint/2010/main" val="22379896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4E3DB-1AA5-F991-AF19-AD7B1D511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ookman Old Style" panose="02050604050505020204" pitchFamily="18" charset="0"/>
              </a:rPr>
              <a:t>Department</a:t>
            </a:r>
            <a:r>
              <a:rPr lang="en-US" dirty="0"/>
              <a:t> </a:t>
            </a:r>
            <a:r>
              <a:rPr lang="en-US" dirty="0">
                <a:latin typeface="Bookman Old Style" panose="02050604050505020204" pitchFamily="18" charset="0"/>
              </a:rPr>
              <a:t>Performance</a:t>
            </a:r>
            <a:endParaRPr lang="en-IN" dirty="0">
              <a:latin typeface="Bookman Old Style" panose="020506040505050202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D91406-8334-8240-55AA-7D0AA86A50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0334" y="1464035"/>
            <a:ext cx="4410691" cy="2534004"/>
          </a:xfrm>
          <a:prstGeom prst="rect">
            <a:avLst/>
          </a:prstGeom>
          <a:effectLst>
            <a:outerShdw blurRad="76200" dir="13500000" sy="23000" kx="1200000" algn="br" rotWithShape="0">
              <a:prstClr val="black">
                <a:alpha val="20000"/>
              </a:prstClr>
            </a:outerShdw>
            <a:softEdge rad="31750"/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A29030D-6EF4-4674-19F0-0A15E6313F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6167" y="1464035"/>
            <a:ext cx="4537633" cy="2534003"/>
          </a:xfrm>
          <a:prstGeom prst="rect">
            <a:avLst/>
          </a:prstGeom>
          <a:effectLst>
            <a:outerShdw blurRad="76200" dir="13500000" sy="23000" kx="1200000" algn="br" rotWithShape="0">
              <a:prstClr val="black">
                <a:alpha val="20000"/>
              </a:prstClr>
            </a:outerShdw>
            <a:softEdge rad="31750"/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EFEB5BA-4CA6-8103-93D8-7798A26665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6566" y="4111144"/>
            <a:ext cx="4544059" cy="2638793"/>
          </a:xfrm>
          <a:prstGeom prst="rect">
            <a:avLst/>
          </a:prstGeom>
          <a:effectLst>
            <a:outerShdw blurRad="76200" dir="13500000" sy="23000" kx="1200000" algn="br" rotWithShape="0">
              <a:prstClr val="black">
                <a:alpha val="20000"/>
              </a:prstClr>
            </a:outerShdw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25357369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72AD4-D606-3BF7-FED6-996106814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8FA8C-CFD1-FCBD-15F7-FDC27891F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Bookman Old Style" panose="02050604050505020204" pitchFamily="18" charset="0"/>
              </a:rPr>
              <a:t>Doctor Workload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1C360B-D310-A476-0042-F204B95FF2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83709" y="2021322"/>
            <a:ext cx="4676389" cy="3345709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  <a:softEdge rad="63500"/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10DC605-2A0D-5D56-8D65-A5578BA45203}"/>
              </a:ext>
            </a:extLst>
          </p:cNvPr>
          <p:cNvSpPr txBox="1"/>
          <p:nvPr/>
        </p:nvSpPr>
        <p:spPr>
          <a:xfrm>
            <a:off x="905256" y="2724680"/>
            <a:ext cx="551383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Dr. Iyer is the highest workload doctor.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Patient distribution across doctors is almost balanced.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3014396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33FDD-95E8-5A67-714A-005D757A1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88060-1289-C0C8-117E-BF76D09AA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Bookman Old Style" panose="02050604050505020204" pitchFamily="18" charset="0"/>
              </a:rPr>
              <a:t>Time Trends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D559F5B-0916-2BE4-F5D4-F9D638C895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68341" y="1087588"/>
            <a:ext cx="3942203" cy="2483869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  <a:softEdge rad="31750"/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7A442C8-79C3-5927-8A58-9E0A0B765F58}"/>
              </a:ext>
            </a:extLst>
          </p:cNvPr>
          <p:cNvSpPr txBox="1"/>
          <p:nvPr/>
        </p:nvSpPr>
        <p:spPr>
          <a:xfrm>
            <a:off x="905256" y="1975579"/>
            <a:ext cx="5513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2023 was our peak year, the dip cause in 2025 is because we have only 4 months data.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8E3D17-DF85-1033-6A3B-451AD70C19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8341" y="3864312"/>
            <a:ext cx="3823332" cy="2709944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  <a:softEdge rad="31750"/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D551D5F-0311-B0A5-A198-69D9C7147BC6}"/>
              </a:ext>
            </a:extLst>
          </p:cNvPr>
          <p:cNvSpPr txBox="1"/>
          <p:nvPr/>
        </p:nvSpPr>
        <p:spPr>
          <a:xfrm>
            <a:off x="905256" y="4557565"/>
            <a:ext cx="551383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/>
              <a:t>Monthly revenue shows seasonal variation, with </a:t>
            </a:r>
            <a:endParaRPr lang="en-IN" sz="2000" dirty="0"/>
          </a:p>
          <a:p>
            <a:r>
              <a:rPr lang="en-US" sz="2000" dirty="0"/>
              <a:t>Sep(69k)–June(66k)being the highest revenue months and Feb(57k)-Nov(57k) lowest revenue months.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41625949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D48AD-BCCE-F1C1-68AC-C82446902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04782-39D3-5A26-1A46-14213968F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5256" y="367306"/>
            <a:ext cx="10515600" cy="1325563"/>
          </a:xfrm>
        </p:spPr>
        <p:txBody>
          <a:bodyPr/>
          <a:lstStyle/>
          <a:p>
            <a:r>
              <a:rPr lang="en-IN" dirty="0">
                <a:latin typeface="Bookman Old Style" panose="02050604050505020204" pitchFamily="18" charset="0"/>
              </a:rPr>
              <a:t>City Analysis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8B01D04-A6E3-B345-CBF5-3BBA08827E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68341" y="1265442"/>
            <a:ext cx="3942203" cy="2128161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  <a:softEdge rad="12700"/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2C4CF23-86C2-B5BF-6FE4-A3B6E1A14863}"/>
              </a:ext>
            </a:extLst>
          </p:cNvPr>
          <p:cNvSpPr txBox="1"/>
          <p:nvPr/>
        </p:nvSpPr>
        <p:spPr>
          <a:xfrm>
            <a:off x="905256" y="1975579"/>
            <a:ext cx="5513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Mumbai &amp; Bangalore are the high revenue cities followed by others.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86BCF7-556B-3203-8E7E-BFBD72D8B5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09085" y="3864312"/>
            <a:ext cx="3741843" cy="2709944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  <a:softEdge rad="12700"/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EFC0637-B4B7-69BA-A58D-828CBBAE787F}"/>
              </a:ext>
            </a:extLst>
          </p:cNvPr>
          <p:cNvSpPr txBox="1"/>
          <p:nvPr/>
        </p:nvSpPr>
        <p:spPr>
          <a:xfrm>
            <a:off x="905256" y="4865341"/>
            <a:ext cx="5513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Hyderabad city has the highest patient volume followed by Bangalore and Pune.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1105613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30402-026C-AE3E-E643-806739E17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66D3A-D135-6C04-4302-B679744B2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Bookman Old Style" panose="02050604050505020204" pitchFamily="18" charset="0"/>
              </a:rPr>
              <a:t>Payment Behaviour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08C833-A7ED-CA7C-7277-BB543285FF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071205" y="1877755"/>
            <a:ext cx="4428916" cy="3102489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  <a:softEdge rad="31750"/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8F72D0B-CF4E-C45E-5B04-B6D8B6D6FF7B}"/>
              </a:ext>
            </a:extLst>
          </p:cNvPr>
          <p:cNvSpPr txBox="1"/>
          <p:nvPr/>
        </p:nvSpPr>
        <p:spPr>
          <a:xfrm>
            <a:off x="969264" y="3075056"/>
            <a:ext cx="5513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/>
              <a:t>Card and Insurance are the most used payment modes.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6178194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E1084-858C-2B59-6816-A0E2DEC70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FA7E2-B02A-A813-0A6E-276B4F04B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Bookman Old Style" panose="02050604050505020204" pitchFamily="18" charset="0"/>
              </a:rPr>
              <a:t>Insights &amp; Recommendations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A4C42B-566F-9241-B6A1-A63B047197E0}"/>
              </a:ext>
            </a:extLst>
          </p:cNvPr>
          <p:cNvSpPr txBox="1"/>
          <p:nvPr/>
        </p:nvSpPr>
        <p:spPr>
          <a:xfrm>
            <a:off x="1414272" y="2026469"/>
            <a:ext cx="9363456" cy="28050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Increase insurance partnerships in low-coverage departments.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Optimize pricing in Oncology due to high-cost vs revenue gap.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Allocate more staff to high-volume doctors and cities.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Focus marketing in high-revenue cities like Bangalore and Mumbai.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Promote digital payments to reduce cash handling costs.</a:t>
            </a:r>
          </a:p>
        </p:txBody>
      </p:sp>
    </p:spTree>
    <p:extLst>
      <p:ext uri="{BB962C8B-B14F-4D97-AF65-F5344CB8AC3E}">
        <p14:creationId xmlns:p14="http://schemas.microsoft.com/office/powerpoint/2010/main" val="26900771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20CFC-DE66-0496-B110-71E1776B3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5C00B-5C14-9415-B2B0-DC4762435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7136" y="2766219"/>
            <a:ext cx="3157728" cy="1325563"/>
          </a:xfrm>
        </p:spPr>
        <p:txBody>
          <a:bodyPr/>
          <a:lstStyle/>
          <a:p>
            <a:r>
              <a:rPr lang="en-IN" dirty="0">
                <a:latin typeface="Bookman Old Style" panose="020506040505050202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6171698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</TotalTime>
  <Words>187</Words>
  <Application>Microsoft Office PowerPoint</Application>
  <PresentationFormat>Widescreen</PresentationFormat>
  <Paragraphs>26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Bahnschrift</vt:lpstr>
      <vt:lpstr>Bookman Old Style</vt:lpstr>
      <vt:lpstr>Calibri</vt:lpstr>
      <vt:lpstr>Calibri Light</vt:lpstr>
      <vt:lpstr>Office Theme</vt:lpstr>
      <vt:lpstr>Hospital Performance Dashboard Analysis</vt:lpstr>
      <vt:lpstr>KPIs Overview</vt:lpstr>
      <vt:lpstr>Department Performance</vt:lpstr>
      <vt:lpstr>Doctor Workload</vt:lpstr>
      <vt:lpstr>Time Trends</vt:lpstr>
      <vt:lpstr>City Analysis</vt:lpstr>
      <vt:lpstr>Payment Behaviour</vt:lpstr>
      <vt:lpstr>Insights &amp; Recommendations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Manikk ...</dc:creator>
  <cp:lastModifiedBy>Manikk ...</cp:lastModifiedBy>
  <cp:revision>1</cp:revision>
  <dcterms:created xsi:type="dcterms:W3CDTF">2026-02-21T21:43:44Z</dcterms:created>
  <dcterms:modified xsi:type="dcterms:W3CDTF">2026-02-21T22:43:40Z</dcterms:modified>
</cp:coreProperties>
</file>